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  <p:sldMasterId id="2147483652" r:id="rId5"/>
    <p:sldMasterId id="2147483654" r:id="rId6"/>
    <p:sldMasterId id="2147483656" r:id="rId7"/>
    <p:sldMasterId id="2147483658" r:id="rId8"/>
    <p:sldMasterId id="2147483660" r:id="rId9"/>
    <p:sldMasterId id="2147483662" r:id="rId10"/>
    <p:sldMasterId id="2147483664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KlC/wQVDpWi+AIniRjO3dTFFO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1" Type="http://schemas.openxmlformats.org/officeDocument/2006/relationships/theme" Target="theme/theme8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26" Type="http://customschemas.google.com/relationships/presentationmetadata" Target="metadata"/><Relationship Id="rId25" Type="http://schemas.openxmlformats.org/officeDocument/2006/relationships/slide" Target="slides/slide13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11" Type="http://schemas.openxmlformats.org/officeDocument/2006/relationships/slideMaster" Target="slideMasters/slideMaster9.xml"/><Relationship Id="rId10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s-C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jpg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4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6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7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9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59120" y="1796760"/>
            <a:ext cx="70560" cy="326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4"/>
          <p:cNvSpPr/>
          <p:nvPr/>
        </p:nvSpPr>
        <p:spPr>
          <a:xfrm>
            <a:off x="5945040" y="616680"/>
            <a:ext cx="5674320" cy="56667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4"/>
          <p:cNvSpPr/>
          <p:nvPr/>
        </p:nvSpPr>
        <p:spPr>
          <a:xfrm>
            <a:off x="6398640" y="2788560"/>
            <a:ext cx="294480" cy="294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14"/>
          <p:cNvCxnSpPr/>
          <p:nvPr/>
        </p:nvCxnSpPr>
        <p:spPr>
          <a:xfrm>
            <a:off x="6995880" y="4106160"/>
            <a:ext cx="411516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14"/>
          <p:cNvSpPr txBox="1"/>
          <p:nvPr>
            <p:ph type="title"/>
          </p:nvPr>
        </p:nvSpPr>
        <p:spPr>
          <a:xfrm>
            <a:off x="6915960" y="2601360"/>
            <a:ext cx="4377600" cy="130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15" name="Google Shape;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8680" y="1207080"/>
            <a:ext cx="3375720" cy="5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 txBox="1"/>
          <p:nvPr>
            <p:ph idx="1" type="body"/>
          </p:nvPr>
        </p:nvSpPr>
        <p:spPr>
          <a:xfrm rot="-2190600">
            <a:off x="167400" y="2887200"/>
            <a:ext cx="10722240" cy="17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"/>
          <p:cNvSpPr txBox="1"/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16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18"/>
          <p:cNvSpPr txBox="1"/>
          <p:nvPr>
            <p:ph idx="2" type="body"/>
          </p:nvPr>
        </p:nvSpPr>
        <p:spPr>
          <a:xfrm>
            <a:off x="640800" y="1137600"/>
            <a:ext cx="493056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18"/>
          <p:cNvSpPr/>
          <p:nvPr/>
        </p:nvSpPr>
        <p:spPr>
          <a:xfrm>
            <a:off x="0" y="0"/>
            <a:ext cx="552600" cy="5526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18"/>
          <p:cNvGrpSpPr/>
          <p:nvPr/>
        </p:nvGrpSpPr>
        <p:grpSpPr>
          <a:xfrm>
            <a:off x="10559160" y="6273360"/>
            <a:ext cx="1404720" cy="320760"/>
            <a:chOff x="10559160" y="6273360"/>
            <a:chExt cx="1404720" cy="320760"/>
          </a:xfrm>
        </p:grpSpPr>
        <p:sp>
          <p:nvSpPr>
            <p:cNvPr id="31" name="Google Shape;31;p18"/>
            <p:cNvSpPr/>
            <p:nvPr/>
          </p:nvSpPr>
          <p:spPr>
            <a:xfrm>
              <a:off x="10559160" y="6311160"/>
              <a:ext cx="868320" cy="281520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11487600" y="6334920"/>
              <a:ext cx="208080" cy="25848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Google Shape;33;p18"/>
            <p:cNvGrpSpPr/>
            <p:nvPr/>
          </p:nvGrpSpPr>
          <p:grpSpPr>
            <a:xfrm>
              <a:off x="11724840" y="6273360"/>
              <a:ext cx="239040" cy="320760"/>
              <a:chOff x="11724840" y="6273360"/>
              <a:chExt cx="239040" cy="320760"/>
            </a:xfrm>
          </p:grpSpPr>
          <p:sp>
            <p:nvSpPr>
              <p:cNvPr id="34" name="Google Shape;34;p18"/>
              <p:cNvSpPr/>
              <p:nvPr/>
            </p:nvSpPr>
            <p:spPr>
              <a:xfrm>
                <a:off x="11724840" y="6330960"/>
                <a:ext cx="201600" cy="263160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" name="Google Shape;35;p18"/>
              <p:cNvPicPr preferRelativeResize="0"/>
              <p:nvPr/>
            </p:nvPicPr>
            <p:blipFill rotWithShape="1">
              <a:blip r:embed="rId1">
                <a:alphaModFix/>
              </a:blip>
              <a:srcRect b="0" l="0" r="0" t="0"/>
              <a:stretch/>
            </p:blipFill>
            <p:spPr>
              <a:xfrm>
                <a:off x="11904120" y="6273360"/>
                <a:ext cx="59760" cy="597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6" name="Google Shape;3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2714760" y="4342320"/>
            <a:ext cx="119160" cy="423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0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0"/>
          <p:cNvSpPr txBox="1"/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20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2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2"/>
          <p:cNvSpPr txBox="1"/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22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2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4"/>
          <p:cNvSpPr txBox="1"/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24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4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26"/>
          <p:cNvGrpSpPr/>
          <p:nvPr/>
        </p:nvGrpSpPr>
        <p:grpSpPr>
          <a:xfrm>
            <a:off x="2569680" y="5445720"/>
            <a:ext cx="7052400" cy="563040"/>
            <a:chOff x="2569680" y="5445720"/>
            <a:chExt cx="7052400" cy="563040"/>
          </a:xfrm>
        </p:grpSpPr>
        <p:pic>
          <p:nvPicPr>
            <p:cNvPr id="66" name="Google Shape;66;p26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4569840" y="5445720"/>
              <a:ext cx="5052240" cy="563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569680" y="5505480"/>
              <a:ext cx="1331280" cy="44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Google Shape;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7160" y="2291760"/>
            <a:ext cx="3997440" cy="12967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/>
          <p:nvPr/>
        </p:nvSpPr>
        <p:spPr>
          <a:xfrm>
            <a:off x="0" y="0"/>
            <a:ext cx="4459320" cy="68576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8"/>
          <p:cNvSpPr/>
          <p:nvPr/>
        </p:nvSpPr>
        <p:spPr>
          <a:xfrm>
            <a:off x="970920" y="900720"/>
            <a:ext cx="3747960" cy="505584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flipH="1" rot="-5400000">
            <a:off x="10929240" y="3487680"/>
            <a:ext cx="2391840" cy="1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8"/>
          <p:cNvSpPr txBox="1"/>
          <p:nvPr>
            <p:ph type="title"/>
          </p:nvPr>
        </p:nvSpPr>
        <p:spPr>
          <a:xfrm>
            <a:off x="1477440" y="221904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28"/>
          <p:cNvSpPr txBox="1"/>
          <p:nvPr>
            <p:ph idx="1" type="body"/>
          </p:nvPr>
        </p:nvSpPr>
        <p:spPr>
          <a:xfrm>
            <a:off x="1477440" y="4008960"/>
            <a:ext cx="2805480" cy="7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78" name="Google Shape;78;p28"/>
          <p:cNvGrpSpPr/>
          <p:nvPr/>
        </p:nvGrpSpPr>
        <p:grpSpPr>
          <a:xfrm>
            <a:off x="10559160" y="6273360"/>
            <a:ext cx="1404720" cy="320760"/>
            <a:chOff x="10559160" y="6273360"/>
            <a:chExt cx="1404720" cy="320760"/>
          </a:xfrm>
        </p:grpSpPr>
        <p:sp>
          <p:nvSpPr>
            <p:cNvPr id="79" name="Google Shape;79;p28"/>
            <p:cNvSpPr/>
            <p:nvPr/>
          </p:nvSpPr>
          <p:spPr>
            <a:xfrm>
              <a:off x="10559160" y="6311160"/>
              <a:ext cx="868320" cy="281520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8"/>
            <p:cNvSpPr/>
            <p:nvPr/>
          </p:nvSpPr>
          <p:spPr>
            <a:xfrm>
              <a:off x="11487600" y="6334920"/>
              <a:ext cx="208080" cy="25848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" name="Google Shape;81;p28"/>
            <p:cNvGrpSpPr/>
            <p:nvPr/>
          </p:nvGrpSpPr>
          <p:grpSpPr>
            <a:xfrm>
              <a:off x="11724840" y="6273360"/>
              <a:ext cx="239040" cy="320760"/>
              <a:chOff x="11724840" y="6273360"/>
              <a:chExt cx="239040" cy="320760"/>
            </a:xfrm>
          </p:grpSpPr>
          <p:sp>
            <p:nvSpPr>
              <p:cNvPr id="82" name="Google Shape;82;p28"/>
              <p:cNvSpPr/>
              <p:nvPr/>
            </p:nvSpPr>
            <p:spPr>
              <a:xfrm>
                <a:off x="11724840" y="6330960"/>
                <a:ext cx="201600" cy="263160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3" name="Google Shape;83;p28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1904120" y="6273360"/>
                <a:ext cx="59760" cy="597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84" name="Google Shape;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440" y="1315080"/>
            <a:ext cx="118800" cy="42271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/>
          <p:nvPr/>
        </p:nvSpPr>
        <p:spPr>
          <a:xfrm>
            <a:off x="0" y="0"/>
            <a:ext cx="1154520" cy="68576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0"/>
          <p:cNvSpPr/>
          <p:nvPr/>
        </p:nvSpPr>
        <p:spPr>
          <a:xfrm>
            <a:off x="485640" y="405720"/>
            <a:ext cx="155160" cy="1551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0"/>
          <p:cNvSpPr txBox="1"/>
          <p:nvPr>
            <p:ph idx="1" type="body"/>
          </p:nvPr>
        </p:nvSpPr>
        <p:spPr>
          <a:xfrm>
            <a:off x="6510960" y="40572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30"/>
          <p:cNvSpPr txBox="1"/>
          <p:nvPr>
            <p:ph idx="2" type="body"/>
          </p:nvPr>
        </p:nvSpPr>
        <p:spPr>
          <a:xfrm>
            <a:off x="6510960" y="976320"/>
            <a:ext cx="4930560" cy="28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1" name="Google Shape;91;p30"/>
          <p:cNvSpPr/>
          <p:nvPr/>
        </p:nvSpPr>
        <p:spPr>
          <a:xfrm>
            <a:off x="11552040" y="483480"/>
            <a:ext cx="271080" cy="27108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30"/>
          <p:cNvGrpSpPr/>
          <p:nvPr/>
        </p:nvGrpSpPr>
        <p:grpSpPr>
          <a:xfrm>
            <a:off x="10559160" y="6273360"/>
            <a:ext cx="1404720" cy="320760"/>
            <a:chOff x="10559160" y="6273360"/>
            <a:chExt cx="1404720" cy="320760"/>
          </a:xfrm>
        </p:grpSpPr>
        <p:sp>
          <p:nvSpPr>
            <p:cNvPr id="93" name="Google Shape;93;p30"/>
            <p:cNvSpPr/>
            <p:nvPr/>
          </p:nvSpPr>
          <p:spPr>
            <a:xfrm>
              <a:off x="10559160" y="6311160"/>
              <a:ext cx="868320" cy="281520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>
              <a:off x="11487600" y="6334920"/>
              <a:ext cx="208080" cy="25848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" name="Google Shape;95;p30"/>
            <p:cNvGrpSpPr/>
            <p:nvPr/>
          </p:nvGrpSpPr>
          <p:grpSpPr>
            <a:xfrm>
              <a:off x="11724840" y="6273360"/>
              <a:ext cx="239040" cy="320760"/>
              <a:chOff x="11724840" y="6273360"/>
              <a:chExt cx="239040" cy="320760"/>
            </a:xfrm>
          </p:grpSpPr>
          <p:sp>
            <p:nvSpPr>
              <p:cNvPr id="96" name="Google Shape;96;p30"/>
              <p:cNvSpPr/>
              <p:nvPr/>
            </p:nvSpPr>
            <p:spPr>
              <a:xfrm>
                <a:off x="11724840" y="6330960"/>
                <a:ext cx="201600" cy="263160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7" name="Google Shape;97;p30"/>
              <p:cNvPicPr preferRelativeResize="0"/>
              <p:nvPr/>
            </p:nvPicPr>
            <p:blipFill rotWithShape="1">
              <a:blip r:embed="rId1">
                <a:alphaModFix/>
              </a:blip>
              <a:srcRect b="0" l="0" r="0" t="0"/>
              <a:stretch/>
            </p:blipFill>
            <p:spPr>
              <a:xfrm>
                <a:off x="11904120" y="6273360"/>
                <a:ext cx="59760" cy="597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98" name="Google Shape;9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680" y="2244960"/>
            <a:ext cx="118800" cy="42271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idx="4294967295" type="title"/>
          </p:nvPr>
        </p:nvSpPr>
        <p:spPr>
          <a:xfrm>
            <a:off x="7013160" y="2601360"/>
            <a:ext cx="4280040" cy="113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EA1 “Transformación de datos”.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6931800" y="4334760"/>
            <a:ext cx="4174920" cy="15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Grupo N° :002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Integrantes: 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Integrante 1: Gabriel Toledo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Integrante 2: Daniela Zarate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Evaluación Parcial N° 1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idx="4294967295"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br>
              <a:rPr b="0" i="0" lang="es-CL" sz="3200" u="none" cap="none" strike="noStrike"/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idx="4294967295" type="body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s-C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>
            <p:ph idx="4294967295" type="body"/>
          </p:nvPr>
        </p:nvSpPr>
        <p:spPr>
          <a:xfrm>
            <a:off x="647640" y="1725120"/>
            <a:ext cx="9896760" cy="3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4000" lvl="0" marL="432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 objetivo es consolidar la limpieza y casualidad de datos.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Unir estadísticas descriptivas claves tales como la demografía,causas,triage,territorio, cotos y temporalidad.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Incorporar un modelo logístico para explicar Hospital vs Centro de salud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330400" y="149760"/>
            <a:ext cx="368136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Integrante 1-INICIO: </a:t>
            </a:r>
            <a:r>
              <a:rPr b="1" lang="es-CL" sz="1200">
                <a:solidFill>
                  <a:srgbClr val="FF0000"/>
                </a:solidFill>
              </a:rPr>
              <a:t>Daniela zarate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idx="4294967295"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Diagnóstico del problema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idx="4294967295" type="body"/>
          </p:nvPr>
        </p:nvSpPr>
        <p:spPr>
          <a:xfrm>
            <a:off x="3183480" y="610560"/>
            <a:ext cx="635652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s-C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del problema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077760" y="149760"/>
            <a:ext cx="293400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Integrante 1-FIN: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828000" y="2340000"/>
            <a:ext cx="4392000" cy="3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59449" lvl="0" marL="432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458" lvl="0" marL="4320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s-C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se busca predecir es que la atención de urgencia ocurrirá en un hospital o en un centro de salud.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458" lvl="0" marL="4320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s-CL" sz="2800">
                <a:solidFill>
                  <a:schemeClr val="dk1"/>
                </a:solidFill>
              </a:rPr>
              <a:t>Y segun el territorio de atencion segun las regiones.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260000" y="1260000"/>
            <a:ext cx="9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s-C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¿Podemos predecir una atención de urgencia?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 title="da344be8-9066-4963-9a40-44257f270b7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175" y="2053500"/>
            <a:ext cx="4221750" cy="23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 title="b1877e2a-7c2d-444d-baf2-a529f0b3cf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7175" y="4483575"/>
            <a:ext cx="4900956" cy="21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idx="4294967295" type="body"/>
          </p:nvPr>
        </p:nvSpPr>
        <p:spPr>
          <a:xfrm>
            <a:off x="1501560" y="1937880"/>
            <a:ext cx="9001080" cy="1962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Pausa de 2 min. Responde 2 preguntas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idx="4294967295"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Final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idx="4294967295" type="body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lang="es-CL" sz="3200">
                <a:solidFill>
                  <a:schemeClr val="dk1"/>
                </a:solidFill>
              </a:rPr>
              <a:t>Analisis de los graficos segun lo estudiado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>
            <p:ph idx="4294967295" type="body"/>
          </p:nvPr>
        </p:nvSpPr>
        <p:spPr>
          <a:xfrm>
            <a:off x="654840" y="2133360"/>
            <a:ext cx="4469400" cy="344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La demanda se concentra en triage medios, lo que indica que llegan muchas urgencias de complejidad intermedia.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Los hospitales atienden más casos que los centros de salud, por lo que absorben la mayor carga asistencial.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El costo de atención se distribuye de forma amplia, es decir, hay casos baratos y otros mucho más costosos.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Al mirar el costo por triage, se observa que los niveles más complejos tienden a mostrar mayor variación y, en general, mayor costo.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Conclusión:</a:t>
            </a:r>
            <a:b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La red de urgencias atiende principalmente casos de complejidad intermedia, con mayor carga en hospitales y costos muy variables según el tipo de atención y la gravedad.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548560" y="149760"/>
            <a:ext cx="344664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Integrante 2-INICIO: Margarita Flores (6 min)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563880" y="5441760"/>
            <a:ext cx="396864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8" title="0ab364d9-d622-45d6-89ac-9e2df5fb0fa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1275" y="4486725"/>
            <a:ext cx="2960051" cy="18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8" title="72ca74db-9f68-4424-bfc8-93bd98be6e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0463" y="3849475"/>
            <a:ext cx="3971916" cy="24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8" title="f92a947a-d798-41fa-8517-f92d9db51d7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4962" y="851750"/>
            <a:ext cx="5926487" cy="2915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idx="4294967295" type="body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s-C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código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>
            <p:ph idx="4294967295" type="body"/>
          </p:nvPr>
        </p:nvSpPr>
        <p:spPr>
          <a:xfrm>
            <a:off x="386280" y="1563480"/>
            <a:ext cx="4469400" cy="344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MÉTRICAS — Regresión Lineal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Las métricas exactas de la regresión lineal son: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R2: -0.0020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MAE: 25,296.59 CLP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MSE: 3,468,978,232.15 CLP²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RMSE: 58,898.03 CLP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La interpretación es esta: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R2 = -0.0020</a:t>
            </a:r>
            <a:b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El modelo prácticamente no explica el costo de atención. Incluso rinde peor que usar solo el promedio del costo como predicción.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MAE = 25,296.59 CLP</a:t>
            </a:r>
            <a:b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En promedio, el modelo se equivoca por unos 25 mil pesos por atención.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MSE = 3,468,978,232.15 CLP²</a:t>
            </a:r>
            <a:b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Es un error cuadrático alto; penaliza más los errores grandes y confirma que hay mucha dispersión.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RMSE = 58,898.03 CLP</a:t>
            </a:r>
            <a:b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El error típico de predicción está cerca de 59 mil pesos, lo que es elevado frente a la escala de costos observada.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386976" y="5973550"/>
            <a:ext cx="2859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 01: REGRESIÓN LINEAL: Entrenar y evaluar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132675" y="429450"/>
            <a:ext cx="6757800" cy="54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Desempeno modelo de gasto: Regresion Lineal (Real vs Predicho)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if 'costoatencionclp' in df.columns: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cols_candidatas = ['causa', 'prioridadtriage', 'regionglosa', 'tipoestablecimiento']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cols_modelo = [c for c in cols_candidatas if c in df.columns]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if cols_modelo: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df_reg = df[cols_modelo + ['costoatencionclp']].dropna().copy()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X_reg = df_reg[cols_modelo].astype('string').fillna('desconocido')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y_reg = df_reg['costoatencionclp']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X_train_r, X_test_r, y_train_r, y_test_r = train_test_split(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X_reg, y_reg, test_size=0.25, random_state=42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preproceso_r = ColumnTransformer(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transformers=[('cat', OneHotEncoder(handle_unknown='ignore'), cols_modelo)]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modelo_r = Pipeline(steps=[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('prep', preproceso_r),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('linreg', LinearRegression())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])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modelo_r.fit(X_train_r, y_train_r)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y_pred_r = modelo_r.predict(X_test_r)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r2_reg = r2_score(y_test_r, y_pred_r)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plt.figure(figsize=(7, 7))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plt.scatter(y_test_r, y_pred_r, alpha=0.35, color='#3a86ff', edgecolor='none')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min_v = float(min(y_test_r.min(), y_pred_r.min()))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max_v = float(max(y_test_r.max(), y_pred_r.max()))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plt.plot([min_v, max_v], [min_v, max_v], '--', color='gray', linewidth=1.5)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plt.title(f'Regresion lineal: Real vs Predicho (R2={r2_reg:.3f})')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plt.xlabel('Costo real (CLP)')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plt.ylabel('Costo predicho (CLP)')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plt.tight_layout()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plt.show()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print(f'R2 de regresion lineal: {r2_reg:.4f}')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else: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6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print('No hay suficientes variables explicativas para el modelo de gasto.')</a:t>
            </a:r>
            <a:endParaRPr sz="6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8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idx="4294967295" type="body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s-C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final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447760" y="149760"/>
            <a:ext cx="356400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Integrante 2-FIN: Margarita Flores (6 min)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788400" y="1661040"/>
            <a:ext cx="10100160" cy="28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**Contexto:** Se desarrolló un análisis completo de datos de clientes de telecomunicaciones, siguiendo el flujo profesional estándar de ciencia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CL" sz="14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**Etapas cumplidas:**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Carga y diagnóstico** de datos crudos con múltiples problemas reales.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Limpieza** sistemática: 20 duplicados eliminados, outlier corregido, NaN imputados con mediana, categorías estandarizadas.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Transformación e ingeniería de características**: 3 nuevas variables con sentido de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Pipeline reproducible** con estandarización y codificación automática.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Análisis Bias-Varianza** para seleccionar el nivel correcto de complejidad.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 modelos entrenados, evaluados y comparados.**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92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CL" sz="1800" u="none" cap="none" strike="noStrike"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idx="4294967295"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idx="4294967295" type="body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s-CL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/>
          <p:nvPr>
            <p:ph idx="4294967295" type="body"/>
          </p:nvPr>
        </p:nvSpPr>
        <p:spPr>
          <a:xfrm>
            <a:off x="640800" y="1137600"/>
            <a:ext cx="493056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rPr lang="es-CL" sz="1400">
                <a:solidFill>
                  <a:schemeClr val="dk1"/>
                </a:solidFill>
              </a:rPr>
              <a:t>https://docs.google.com/document/d/11bYmilhOMiZzPRnzzdvgEaLS9XBIYeQwK1JN75BjNKo/edit?usp=sharing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530025" y="2034375"/>
            <a:ext cx="493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/>
              <a:t>https://github.com/GabTo0011/entrega_1-prog_para_ciencia_datos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0x010100B7B2C2C7448D3B49B948ADF2E0C59D3B</vt:lpwstr>
  </property>
  <property fmtid="{D5CDD505-2E9C-101B-9397-08002B2CF9AE}" pid="4" name="Notes">
    <vt:i4>1</vt:i4>
  </property>
  <property fmtid="{D5CDD505-2E9C-101B-9397-08002B2CF9AE}" pid="5" name="Order">
    <vt:r8>170200.0</vt:r8>
  </property>
  <property fmtid="{D5CDD505-2E9C-101B-9397-08002B2CF9AE}" pid="6" name="PresentationFormat">
    <vt:lpwstr>Panorámica</vt:lpwstr>
  </property>
  <property fmtid="{D5CDD505-2E9C-101B-9397-08002B2CF9AE}" pid="7" name="Slides">
    <vt:i4>13</vt:i4>
  </property>
  <property fmtid="{D5CDD505-2E9C-101B-9397-08002B2CF9AE}" pid="8" name="TemplateUrl">
    <vt:lpwstr/>
  </property>
  <property fmtid="{D5CDD505-2E9C-101B-9397-08002B2CF9AE}" pid="9" name="TriggerFlowInfo">
    <vt:lpwstr/>
  </property>
  <property fmtid="{D5CDD505-2E9C-101B-9397-08002B2CF9AE}" pid="10" name="_ExtendedDescription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xd_ProgID">
    <vt:lpwstr/>
  </property>
  <property fmtid="{D5CDD505-2E9C-101B-9397-08002B2CF9AE}" pid="14" name="xd_Signature">
    <vt:bool>false</vt:bool>
  </property>
</Properties>
</file>